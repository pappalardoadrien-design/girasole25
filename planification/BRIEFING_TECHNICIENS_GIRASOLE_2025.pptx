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MISSION GIRASOLE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Audits Techniques 52 Centrales Photovoltaïques</a:t>
            </a:r>
          </a:p>
          <a:p>
            <a:r>
              <a:t>Janvier - Mars 2025</a:t>
            </a:r>
          </a:p>
          <a:p/>
          <a:p>
            <a:r>
              <a:t>Briefing Techniciens</a:t>
            </a:r>
          </a:p>
          <a:p>
            <a:r>
              <a:t>Diagnostic Photovoltaïque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Contexte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Client : Girasole Energies</a:t>
            </a:r>
          </a:p>
          <a:p>
            <a:pPr>
              <a:defRPr sz="1800"/>
            </a:pPr>
            <a:r>
              <a:t>Code affaire : 22COUTIN©</a:t>
            </a:r>
          </a:p>
          <a:p>
            <a:pPr>
              <a:defRPr sz="1800"/>
            </a:pPr>
            <a:r>
              <a:t>Période : Janvier - Mars 2025 (3 mois)</a:t>
            </a:r>
          </a:p>
          <a:p>
            <a:pPr>
              <a:defRPr sz="1800"/>
            </a:pPr>
            <a:r>
              <a:t>Budget contractuel : 66,885€ HT (fixe)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Périmètre :</a:t>
            </a:r>
          </a:p>
          <a:p>
            <a:pPr lvl="1">
              <a:defRPr sz="1600"/>
            </a:pPr>
            <a:r>
              <a:t>39 centrales SOL : 39,780€ (1,020€/unité)</a:t>
            </a:r>
          </a:p>
          <a:p>
            <a:pPr lvl="1">
              <a:defRPr sz="1600"/>
            </a:pPr>
            <a:r>
              <a:t>13 centrales TOITURE : 19,305€ (1,485€/unité)</a:t>
            </a:r>
          </a:p>
          <a:p>
            <a:pPr lvl="1">
              <a:defRPr sz="1600"/>
            </a:pPr>
            <a:r>
              <a:t>Frais déplacement : 7,800€ (150€/centrale)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📍 Organisation Géographique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4 Bases Sous-Traitants 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🔵 LYON : 14 centrales</a:t>
            </a:r>
          </a:p>
          <a:p>
            <a:pPr lvl="1">
              <a:defRPr sz="1600"/>
            </a:pPr>
            <a:r>
              <a:t>Coordonnées : 45.7640°N, 4.8357°E</a:t>
            </a:r>
          </a:p>
          <a:p>
            <a:pPr lvl="1">
              <a:defRPr sz="1600"/>
            </a:pPr>
            <a:r>
              <a:t>Rayon d'action : Auvergne-Rhône-Alpes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🔴 MILLAU : 13 centrales</a:t>
            </a:r>
          </a:p>
          <a:p>
            <a:pPr lvl="1">
              <a:defRPr sz="1600"/>
            </a:pPr>
            <a:r>
              <a:t>Coordonnées : 44.0995°N, 3.0789°E</a:t>
            </a:r>
          </a:p>
          <a:p>
            <a:pPr lvl="1">
              <a:defRPr sz="1600"/>
            </a:pPr>
            <a:r>
              <a:t>Rayon d'action : Occitanie Est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🟢 ORTHEZ : 12 centrales</a:t>
            </a:r>
          </a:p>
          <a:p>
            <a:pPr lvl="1">
              <a:defRPr sz="1600"/>
            </a:pPr>
            <a:r>
              <a:t>Coordonnées : 43.4886°N, -0.7742°W</a:t>
            </a:r>
          </a:p>
          <a:p>
            <a:pPr lvl="1">
              <a:defRPr sz="1600"/>
            </a:pPr>
            <a:r>
              <a:t>Rayon d'action : Nouvelle-Aquitaine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🟠 TOULOUSE : 13 centrales</a:t>
            </a:r>
          </a:p>
          <a:p>
            <a:pPr lvl="1">
              <a:defRPr sz="1600"/>
            </a:pPr>
            <a:r>
              <a:t>Coordonnées : 43.6047°N, 1.4442°E</a:t>
            </a:r>
          </a:p>
          <a:p>
            <a:pPr lvl="1">
              <a:defRPr sz="1600"/>
            </a:pPr>
            <a:r>
              <a:t>Rayon d'action : Occitanie Ouest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Prestations à Réaliser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Analyse documentaire Bureau d'Études</a:t>
            </a:r>
          </a:p>
          <a:p>
            <a:pPr lvl="1">
              <a:defRPr sz="1600"/>
            </a:pPr>
            <a:r>
              <a:t>Plans calepinage, schémas électriques</a:t>
            </a:r>
          </a:p>
          <a:p>
            <a:pPr lvl="1">
              <a:defRPr sz="1600"/>
            </a:pPr>
            <a:r>
              <a:t>Notices techniques modules/onduleurs</a:t>
            </a:r>
          </a:p>
          <a:p>
            <a:pPr lvl="1">
              <a:defRPr sz="1600"/>
            </a:pPr>
            <a:r>
              <a:t>Historiques production/maintenance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Contrôle visuel sur site (cahier des charges)</a:t>
            </a:r>
          </a:p>
          <a:p>
            <a:pPr lvl="1">
              <a:defRPr sz="1600"/>
            </a:pPr>
            <a:r>
              <a:t>20 sections checklist terrain</a:t>
            </a:r>
          </a:p>
          <a:p>
            <a:pPr lvl="1">
              <a:defRPr sz="1600"/>
            </a:pPr>
            <a:r>
              <a:t>174+ items vérification</a:t>
            </a:r>
          </a:p>
          <a:p>
            <a:pPr lvl="1">
              <a:defRPr sz="1600"/>
            </a:pPr>
            <a:r>
              <a:t>Prise photos systématique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Rédaction rapport compte rendu</a:t>
            </a:r>
          </a:p>
          <a:p>
            <a:pPr lvl="1">
              <a:defRPr sz="1600"/>
            </a:pPr>
            <a:r>
              <a:t>Export Excel ANNEXE 2 (47 colonnes)</a:t>
            </a:r>
          </a:p>
          <a:p>
            <a:pPr lvl="1">
              <a:defRPr sz="1600"/>
            </a:pPr>
            <a:r>
              <a:t>Rapports PDF individuels DiagPV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Interventions TOITURE (13 centrales)</a:t>
            </a:r>
          </a:p>
          <a:p>
            <a:pPr lvl="1">
              <a:defRPr sz="1600"/>
            </a:pPr>
            <a:r>
              <a:t>Démontage et échantillonnage modules</a:t>
            </a:r>
          </a:p>
          <a:p>
            <a:pPr lvl="1">
              <a:defRPr sz="1600"/>
            </a:pPr>
            <a:r>
              <a:t>Vérification toiture selon cahier des charges</a:t>
            </a:r>
          </a:p>
          <a:p>
            <a:pPr lvl="1">
              <a:defRPr sz="1600"/>
            </a:pPr>
            <a:r>
              <a:t>Intervention avec nacelle certifiée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Méthodologie Terrain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OUTIL : Checklist Terrain V3 HTML (tablette/smartphone)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20 Sections à remplir :</a:t>
            </a:r>
          </a:p>
          <a:p>
            <a:pPr lvl="1">
              <a:defRPr sz="1600"/>
            </a:pPr>
            <a:r>
              <a:t>1. Informations générales (météo, GPS, puissance)</a:t>
            </a:r>
          </a:p>
          <a:p>
            <a:pPr lvl="1">
              <a:defRPr sz="1600"/>
            </a:pPr>
            <a:r>
              <a:t>2. Documentation fournie</a:t>
            </a:r>
          </a:p>
          <a:p>
            <a:pPr lvl="1">
              <a:defRPr sz="1600"/>
            </a:pPr>
            <a:r>
              <a:t>3. État structures support</a:t>
            </a:r>
          </a:p>
          <a:p>
            <a:pPr lvl="1">
              <a:defRPr sz="1600"/>
            </a:pPr>
            <a:r>
              <a:t>4. État modules PV (délamination, fissures, salissures)</a:t>
            </a:r>
          </a:p>
          <a:p>
            <a:pPr lvl="1">
              <a:defRPr sz="1600"/>
            </a:pPr>
            <a:r>
              <a:t>5. État câblage DC (connecteurs, chemins câbles)</a:t>
            </a:r>
          </a:p>
          <a:p>
            <a:pPr lvl="1">
              <a:defRPr sz="1600"/>
            </a:pPr>
            <a:r>
              <a:t>6. Boîtes jonction strings</a:t>
            </a:r>
          </a:p>
          <a:p>
            <a:pPr lvl="1">
              <a:defRPr sz="1600"/>
            </a:pPr>
            <a:r>
              <a:t>7. État onduleurs (fonctionnement, codes erreur)</a:t>
            </a:r>
          </a:p>
          <a:p>
            <a:pPr lvl="1">
              <a:defRPr sz="1600"/>
            </a:pPr>
            <a:r>
              <a:t>8. Coffrets électriques</a:t>
            </a:r>
          </a:p>
          <a:p>
            <a:pPr lvl="1">
              <a:defRPr sz="1600"/>
            </a:pPr>
            <a:r>
              <a:t>9. Monitoring production</a:t>
            </a:r>
          </a:p>
          <a:p>
            <a:pPr lvl="1">
              <a:defRPr sz="1600"/>
            </a:pPr>
            <a:r>
              <a:t>10. Mise à la terre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Méthodologie Terrain (suite)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 Sections (suite) :</a:t>
            </a:r>
          </a:p>
          <a:p>
            <a:pPr lvl="1">
              <a:defRPr sz="1600"/>
            </a:pPr>
            <a:r>
              <a:t>11. Transformateur/Poste livraison</a:t>
            </a:r>
          </a:p>
          <a:p>
            <a:pPr lvl="1">
              <a:defRPr sz="1600"/>
            </a:pPr>
            <a:r>
              <a:t>12. Sécurité site (clôtures, alarmes)</a:t>
            </a:r>
          </a:p>
          <a:p>
            <a:pPr lvl="1">
              <a:defRPr sz="1600"/>
            </a:pPr>
            <a:r>
              <a:t>13. Environnement installation</a:t>
            </a:r>
          </a:p>
          <a:p>
            <a:pPr lvl="1">
              <a:defRPr sz="1600"/>
            </a:pPr>
            <a:r>
              <a:t>14. Conformité normes (marquages CE, IEC 62446-3)</a:t>
            </a:r>
          </a:p>
          <a:p>
            <a:pPr lvl="1">
              <a:defRPr sz="1600"/>
            </a:pPr>
            <a:r>
              <a:t>15. Performances électriques (PR, dégradation)</a:t>
            </a:r>
          </a:p>
          <a:p>
            <a:pPr lvl="1">
              <a:defRPr sz="1600"/>
            </a:pPr>
            <a:r>
              <a:t>16. Maintenance préventive</a:t>
            </a:r>
          </a:p>
          <a:p>
            <a:pPr lvl="1">
              <a:defRPr sz="1600"/>
            </a:pPr>
            <a:r>
              <a:t>17. Défauts identifiés (description détaillée)</a:t>
            </a:r>
          </a:p>
          <a:p>
            <a:pPr lvl="1">
              <a:defRPr sz="1600"/>
            </a:pPr>
            <a:r>
              <a:t>18. Photos générales (upload multiple)</a:t>
            </a:r>
          </a:p>
          <a:p>
            <a:pPr lvl="1">
              <a:defRPr sz="1600"/>
            </a:pPr>
            <a:r>
              <a:t>19. Interventions toiture (EPI, nacelle, météo) ⚠️</a:t>
            </a:r>
          </a:p>
          <a:p>
            <a:pPr lvl="1">
              <a:defRPr sz="1600"/>
            </a:pPr>
            <a:r>
              <a:t>20. Conclusion intervention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📤 Export données :</a:t>
            </a:r>
          </a:p>
          <a:p>
            <a:pPr lvl="1">
              <a:defRPr sz="1600"/>
            </a:pPr>
            <a:r>
              <a:t>JSON : girasole_terrain_[centrale]_[date].json</a:t>
            </a:r>
          </a:p>
          <a:p>
            <a:pPr lvl="1">
              <a:defRPr sz="1600"/>
            </a:pPr>
            <a:r>
              <a:t>ZIP Photos : girasole_photos_[centrale]_[date].zip</a:t>
            </a:r>
          </a:p>
          <a:p>
            <a:pPr lvl="1">
              <a:defRPr sz="1600"/>
            </a:pPr>
            <a:r>
              <a:t>Envoi immédiat au Bureau Études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SÉCURITÉ TOITURE (13 centrales)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🔴 RISQUE CHUTE HAUTEUR &gt; 3m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IMPÉRATIF AVANT INTERVENTION :</a:t>
            </a:r>
          </a:p>
          <a:p>
            <a:pPr lvl="1">
              <a:defRPr sz="1600"/>
            </a:pPr>
            <a:r>
              <a:t>✅ Lire Mode Opératoire (MOP_INTERVENTIONS_TOITURE_DIAGPV.pdf)</a:t>
            </a:r>
          </a:p>
          <a:p>
            <a:pPr lvl="1">
              <a:defRPr sz="1600"/>
            </a:pPr>
            <a:r>
              <a:t>✅ Lire Analyse Risques (ANALYSE_RISQUE_TOITURE_DIAGPV.md)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EPI OBLIGATOIRES :</a:t>
            </a:r>
          </a:p>
          <a:p>
            <a:pPr lvl="1">
              <a:defRPr sz="1600"/>
            </a:pPr>
            <a:r>
              <a:t>Harnais antichute + ligne de vie</a:t>
            </a:r>
          </a:p>
          <a:p>
            <a:pPr lvl="1">
              <a:defRPr sz="1600"/>
            </a:pPr>
            <a:r>
              <a:t>Casque de chantier</a:t>
            </a:r>
          </a:p>
          <a:p>
            <a:pPr lvl="1">
              <a:defRPr sz="1600"/>
            </a:pPr>
            <a:r>
              <a:t>Chaussures de sécurité</a:t>
            </a:r>
          </a:p>
          <a:p>
            <a:pPr lvl="1">
              <a:defRPr sz="1600"/>
            </a:pPr>
            <a:r>
              <a:t>Gants protection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CONDITIONS INTERVENTION :</a:t>
            </a:r>
          </a:p>
          <a:p>
            <a:pPr lvl="1">
              <a:defRPr sz="1600"/>
            </a:pPr>
            <a:r>
              <a:t>Nacelle certifiée + opérateur CACES</a:t>
            </a:r>
          </a:p>
          <a:p>
            <a:pPr lvl="1">
              <a:defRPr sz="1600"/>
            </a:pPr>
            <a:r>
              <a:t>Vent &lt; 40 km/h</a:t>
            </a:r>
          </a:p>
          <a:p>
            <a:pPr lvl="1">
              <a:defRPr sz="1600"/>
            </a:pPr>
            <a:r>
              <a:t>Pas de pluie</a:t>
            </a:r>
          </a:p>
          <a:p>
            <a:pPr lvl="1">
              <a:defRPr sz="1600"/>
            </a:pPr>
            <a:r>
              <a:t>Balisage zone</a:t>
            </a:r>
          </a:p>
          <a:p>
            <a:pPr lvl="1">
              <a:defRPr sz="1600"/>
            </a:pPr>
            <a:r>
              <a:t>2 personnes minimum (binôme sécurité)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Outils Disponibles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📂 PACK COMPLET FOURNI (ZIP 289 KB)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Planificateur Tournées (Excel)</a:t>
            </a:r>
          </a:p>
          <a:p>
            <a:pPr lvl="1">
              <a:defRPr sz="1600"/>
            </a:pPr>
            <a:r>
              <a:t>52 centrales assignées par base</a:t>
            </a:r>
          </a:p>
          <a:p>
            <a:pPr lvl="1">
              <a:defRPr sz="1600"/>
            </a:pPr>
            <a:r>
              <a:t>Distances calculées automatiquement</a:t>
            </a:r>
          </a:p>
          <a:p>
            <a:pPr lvl="1">
              <a:defRPr sz="1600"/>
            </a:pPr>
            <a:r>
              <a:t>Optimisation trajets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Checklist Terrain V3 (HTML)</a:t>
            </a:r>
          </a:p>
          <a:p>
            <a:pPr lvl="1">
              <a:defRPr sz="1600"/>
            </a:pPr>
            <a:r>
              <a:t>Interface web mobile/tablette</a:t>
            </a:r>
          </a:p>
          <a:p>
            <a:pPr lvl="1">
              <a:defRPr sz="1600"/>
            </a:pPr>
            <a:r>
              <a:t>20 sections, 174+ items</a:t>
            </a:r>
          </a:p>
          <a:p>
            <a:pPr lvl="1">
              <a:defRPr sz="1600"/>
            </a:pPr>
            <a:r>
              <a:t>Upload photos direct</a:t>
            </a:r>
          </a:p>
          <a:p>
            <a:pPr lvl="1">
              <a:defRPr sz="1600"/>
            </a:pPr>
            <a:r>
              <a:t>Export JSON + ZIP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Ordres Mission (52 documents)</a:t>
            </a:r>
          </a:p>
          <a:p>
            <a:pPr lvl="1">
              <a:defRPr sz="1600"/>
            </a:pPr>
            <a:r>
              <a:t>1 ordre par centrale pré-généré</a:t>
            </a:r>
          </a:p>
          <a:p>
            <a:pPr lvl="1">
              <a:defRPr sz="1600"/>
            </a:pPr>
            <a:r>
              <a:t>Coordonnées, puissance, prestations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Plans Prévention Toiture (PDF)</a:t>
            </a:r>
          </a:p>
          <a:p>
            <a:pPr lvl="1">
              <a:defRPr sz="1600"/>
            </a:pPr>
            <a:r>
              <a:t>Mode opératoire détaillé</a:t>
            </a:r>
          </a:p>
          <a:p>
            <a:pPr lvl="1">
              <a:defRPr sz="1600"/>
            </a:pPr>
            <a:r>
              <a:t>Analyse risques complète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Workflow Mission Complète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 : PRÉPARATION (avant départ)</a:t>
            </a:r>
          </a:p>
          <a:p>
            <a:pPr lvl="1">
              <a:defRPr sz="1600"/>
            </a:pPr>
            <a:r>
              <a:t>Consulter planificateur tournées (base assignée)</a:t>
            </a:r>
          </a:p>
          <a:p>
            <a:pPr lvl="1">
              <a:defRPr sz="1600"/>
            </a:pPr>
            <a:r>
              <a:t>Récupérer ordre mission centrale</a:t>
            </a:r>
          </a:p>
          <a:p>
            <a:pPr lvl="1">
              <a:defRPr sz="1600"/>
            </a:pPr>
            <a:r>
              <a:t>Télécharger checklist terrain HTML sur tablette</a:t>
            </a:r>
          </a:p>
          <a:p>
            <a:pPr lvl="1">
              <a:defRPr sz="1600"/>
            </a:pPr>
            <a:r>
              <a:t>Vérifier matériel (appareil photo, EPI si toiture)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2 : TERRAIN (sur site)</a:t>
            </a:r>
          </a:p>
          <a:p>
            <a:pPr lvl="1">
              <a:defRPr sz="1600"/>
            </a:pPr>
            <a:r>
              <a:t>Ouvrir checklist HTML (fonctionne hors ligne)</a:t>
            </a:r>
          </a:p>
          <a:p>
            <a:pPr lvl="1">
              <a:defRPr sz="1600"/>
            </a:pPr>
            <a:r>
              <a:t>Remplir 20 sections + prendre photos</a:t>
            </a:r>
          </a:p>
          <a:p>
            <a:pPr lvl="1">
              <a:defRPr sz="1600"/>
            </a:pPr>
            <a:r>
              <a:t>Exporter JSON + ZIP photos</a:t>
            </a:r>
          </a:p>
          <a:p>
            <a:pPr lvl="1">
              <a:defRPr sz="1600"/>
            </a:pPr>
            <a:r>
              <a:t>Envoyer immédiatement au Bureau Études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3 : BUREAU ÉTUDES (après intervention)</a:t>
            </a:r>
          </a:p>
          <a:p>
            <a:pPr lvl="1">
              <a:defRPr sz="1600"/>
            </a:pPr>
            <a:r>
              <a:t>Import JSON terrain dans Checklist BE</a:t>
            </a:r>
          </a:p>
          <a:p>
            <a:pPr lvl="1">
              <a:defRPr sz="1600"/>
            </a:pPr>
            <a:r>
              <a:t>Croisement avec analyse documentaire</a:t>
            </a:r>
          </a:p>
          <a:p>
            <a:pPr lvl="1">
              <a:defRPr sz="1600"/>
            </a:pPr>
            <a:r>
              <a:t>Export Excel synthèse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4 : RAPPORTS (automatisation)</a:t>
            </a:r>
          </a:p>
          <a:p>
            <a:pPr lvl="1">
              <a:defRPr sz="1600"/>
            </a:pPr>
            <a:r>
              <a:t>Compilation ANNEXE 2 Excel (47 colonnes)</a:t>
            </a:r>
          </a:p>
          <a:p>
            <a:pPr lvl="1">
              <a:defRPr sz="1600"/>
            </a:pPr>
            <a:r>
              <a:t>Génération rapports PDF DiagPV individuels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⏱️ Temps Estimés par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Centrale SOL (39 centrales) :</a:t>
            </a:r>
          </a:p>
          <a:p>
            <a:pPr lvl="1">
              <a:defRPr sz="1600"/>
            </a:pPr>
            <a:r>
              <a:t>Intervention terrain : 2-3 heures</a:t>
            </a:r>
          </a:p>
          <a:p>
            <a:pPr lvl="1">
              <a:defRPr sz="1600"/>
            </a:pPr>
            <a:r>
              <a:t>Bureau Études : 1-2 heures</a:t>
            </a:r>
          </a:p>
          <a:p>
            <a:pPr lvl="1">
              <a:defRPr sz="1600"/>
            </a:pPr>
            <a:r>
              <a:t>TOTAL : 3-5 heures/centrale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Centrale TOITURE (13 centrales) :</a:t>
            </a:r>
          </a:p>
          <a:p>
            <a:pPr lvl="1">
              <a:defRPr sz="1600"/>
            </a:pPr>
            <a:r>
              <a:t>Intervention terrain : 3-4 heures (nacelle)</a:t>
            </a:r>
          </a:p>
          <a:p>
            <a:pPr lvl="1">
              <a:defRPr sz="1600"/>
            </a:pPr>
            <a:r>
              <a:t>Bureau Études : 1-2 heures</a:t>
            </a:r>
          </a:p>
          <a:p>
            <a:pPr lvl="1">
              <a:defRPr sz="1600"/>
            </a:pPr>
            <a:r>
              <a:t>TOTAL : 4-6 heures/centrale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MISSION COMPLÈTE (52 centrales) :</a:t>
            </a:r>
          </a:p>
          <a:p>
            <a:pPr lvl="1">
              <a:defRPr sz="1600"/>
            </a:pPr>
            <a:r>
              <a:t>Temps total estimé : 156-312 heures</a:t>
            </a:r>
          </a:p>
          <a:p>
            <a:pPr lvl="1">
              <a:defRPr sz="1600"/>
            </a:pPr>
            <a:r>
              <a:t>Répartition 4 bases : 39-78 heures/base</a:t>
            </a:r>
          </a:p>
          <a:p>
            <a:pPr lvl="1">
              <a:defRPr sz="1600"/>
            </a:pPr>
            <a:r>
              <a:t>Sur 3 mois : ~13-26 heures/base/mois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✅ Objectif : 2-3 centrales/semaine par base = GÉRABLE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Points Clés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PHOTOS :</a:t>
            </a:r>
          </a:p>
          <a:p>
            <a:pPr lvl="1">
              <a:defRPr sz="1600"/>
            </a:pPr>
            <a:r>
              <a:t>Qualité minimale : 1920x1080 (2 MP)</a:t>
            </a:r>
          </a:p>
          <a:p>
            <a:pPr lvl="1">
              <a:defRPr sz="1600"/>
            </a:pPr>
            <a:r>
              <a:t>Renommer : CENTRALE_SECTION_XX.jpg</a:t>
            </a:r>
          </a:p>
          <a:p>
            <a:pPr lvl="1">
              <a:defRPr sz="1600"/>
            </a:pPr>
            <a:r>
              <a:t>Exemple : LYON001_MODULES_DELAMINATION.jpg</a:t>
            </a:r>
          </a:p>
          <a:p>
            <a:pPr lvl="1">
              <a:defRPr sz="1600"/>
            </a:pPr>
            <a:r>
              <a:t>Photos défauts : Zoomer + vue ensemble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DÉFAUTS IDENTIFIÉS (Section 17) :</a:t>
            </a:r>
          </a:p>
          <a:p>
            <a:pPr lvl="1">
              <a:defRPr sz="1600"/>
            </a:pPr>
            <a:r>
              <a:t>Description détaillée (quoi, où, gravité)</a:t>
            </a:r>
          </a:p>
          <a:p>
            <a:pPr lvl="1">
              <a:defRPr sz="1600"/>
            </a:pPr>
            <a:r>
              <a:t>Localisation précise (string, module si possible)</a:t>
            </a:r>
          </a:p>
          <a:p>
            <a:pPr lvl="1">
              <a:defRPr sz="1600"/>
            </a:pPr>
            <a:r>
              <a:t>Impact production estimé si mesurable</a:t>
            </a:r>
          </a:p>
          <a:p>
            <a:pPr lvl="1">
              <a:defRPr sz="1600"/>
            </a:pPr>
            <a:r>
              <a:t>Recommandations actions correctives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EXPORT DONNÉES :</a:t>
            </a:r>
          </a:p>
          <a:p>
            <a:pPr lvl="1">
              <a:defRPr sz="1600"/>
            </a:pPr>
            <a:r>
              <a:t>Toujours exporter JSON + ZIP photos</a:t>
            </a:r>
          </a:p>
          <a:p>
            <a:pPr lvl="1">
              <a:defRPr sz="1600"/>
            </a:pPr>
            <a:r>
              <a:t>Envoyer immédiatement (ne pas attendre)</a:t>
            </a:r>
          </a:p>
          <a:p>
            <a:pPr lvl="1">
              <a:defRPr sz="1600"/>
            </a:pPr>
            <a:r>
              <a:t>Vérifier taille fichiers avant envoi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SÉCURITÉ :</a:t>
            </a:r>
          </a:p>
          <a:p>
            <a:pPr lvl="1">
              <a:defRPr sz="1600"/>
            </a:pPr>
            <a:r>
              <a:t>Interventions toiture : RESPECT STRICT procédures</a:t>
            </a:r>
          </a:p>
          <a:p>
            <a:pPr lvl="1">
              <a:defRPr sz="1600"/>
            </a:pPr>
            <a:r>
              <a:t>Signaler immédiatement tout incident/anomalie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Livrables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REMISE CLIENT GIRASOLE 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ANNEXE 2 Excel (47 colonnes)</a:t>
            </a:r>
          </a:p>
          <a:p>
            <a:pPr lvl="1">
              <a:defRPr sz="1600"/>
            </a:pPr>
            <a:r>
              <a:t>Compilation données 52 centrales</a:t>
            </a:r>
          </a:p>
          <a:p>
            <a:pPr lvl="1">
              <a:defRPr sz="1600"/>
            </a:pPr>
            <a:r>
              <a:t>Synthèse complète audits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Rapports PDF individuels (52 rapports)</a:t>
            </a:r>
          </a:p>
          <a:p>
            <a:pPr lvl="1">
              <a:defRPr sz="1600"/>
            </a:pPr>
            <a:r>
              <a:t>Branding Diagnostic Photovoltaïque</a:t>
            </a:r>
          </a:p>
          <a:p>
            <a:pPr lvl="1">
              <a:defRPr sz="1600"/>
            </a:pPr>
            <a:r>
              <a:t>Logo, coordonnées, signature Fabien CORRERA</a:t>
            </a:r>
          </a:p>
          <a:p>
            <a:pPr lvl="1">
              <a:defRPr sz="1600"/>
            </a:pPr>
            <a:r>
              <a:t>Méthodologie conforme IEC 62446-3, IEC TS 63049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Archive photos (ZIP par centrale)</a:t>
            </a:r>
          </a:p>
          <a:p>
            <a:pPr lvl="1">
              <a:defRPr sz="1600"/>
            </a:pPr>
            <a:r>
              <a:t>Photos HD organisées par section</a:t>
            </a:r>
          </a:p>
          <a:p>
            <a:pPr lvl="1">
              <a:defRPr sz="1600"/>
            </a:pPr>
            <a:r>
              <a:t>Nomenclature standardisée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DÉLAI REMISE : Fin Mars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📞 Contacts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DIAGNOSTIC PHOTOVOLTAÏQUE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Adrien PAPPALARDO - Business Developer</a:t>
            </a:r>
          </a:p>
          <a:p>
            <a:pPr lvl="1">
              <a:defRPr sz="1600"/>
            </a:pPr>
            <a:r>
              <a:t>📱 06 07 29 22 12</a:t>
            </a:r>
          </a:p>
          <a:p>
            <a:pPr lvl="1">
              <a:defRPr sz="1600"/>
            </a:pPr>
            <a:r>
              <a:t>📧 info@diagnosticphotovoltaique.fr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Fabien CORRERA - Expert Technique</a:t>
            </a:r>
          </a:p>
          <a:p>
            <a:pPr lvl="1">
              <a:defRPr sz="1600"/>
            </a:pPr>
            <a:r>
              <a:t>Signataire rapports</a:t>
            </a:r>
          </a:p>
          <a:p>
            <a:pPr lvl="1">
              <a:defRPr sz="1600"/>
            </a:pPr>
            <a:r>
              <a:t>Support technique méthodologie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🌐 www.diagnosticphotovoltaique.fr</a:t>
            </a:r>
          </a:p>
          <a:p>
            <a:pPr>
              <a:defRPr sz="1800"/>
            </a:pPr>
            <a:r>
              <a:t>📍 3 rue d'Apollo, 31240 L'UNION</a:t>
            </a:r>
          </a:p>
          <a:p>
            <a:pPr>
              <a:defRPr sz="1800"/>
            </a:pPr>
            <a:r>
              <a:t>☎️ 05.81.10.16.59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CLIENT : Girasole Energies</a:t>
            </a:r>
          </a:p>
          <a:p>
            <a:pPr>
              <a:defRPr sz="1800"/>
            </a:pPr>
            <a:r>
              <a:t>Code affaire : 22COUTIN©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❓ 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Merci pour votre attention !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📦 Pack complet outils fourni (ZIP 289 KB)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📋 Checklist terrain, planificateur, ordres mission,</a:t>
            </a:r>
          </a:p>
          <a:p>
            <a:pPr>
              <a:defRPr sz="1800"/>
            </a:pPr>
            <a:r>
              <a:t>plans prévention, scripts automatisation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🚀 Prêts pour la mission GIRASOLE 2025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